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IBM Plex Sans"/>
      <p:regular r:id="rId23"/>
      <p:bold r:id="rId24"/>
      <p:italic r:id="rId25"/>
      <p:boldItalic r:id="rId26"/>
    </p:embeddedFont>
    <p:embeddedFont>
      <p:font typeface="Sora SemiBold"/>
      <p:regular r:id="rId27"/>
      <p:bold r:id="rId28"/>
    </p:embeddedFont>
    <p:embeddedFont>
      <p:font typeface="IBM Plex Sans Medium"/>
      <p:regular r:id="rId29"/>
      <p:bold r:id="rId30"/>
      <p:italic r:id="rId31"/>
      <p:boldItalic r:id="rId32"/>
    </p:embeddedFont>
    <p:embeddedFont>
      <p:font typeface="Sora Light"/>
      <p:regular r:id="rId33"/>
      <p:bold r:id="rId34"/>
    </p:embeddedFont>
    <p:embeddedFont>
      <p:font typeface="Sora ExtraLight"/>
      <p:regular r:id="rId35"/>
      <p:bold r:id="rId36"/>
    </p:embeddedFont>
    <p:embeddedFont>
      <p:font typeface="Sora"/>
      <p:regular r:id="rId37"/>
      <p:bold r:id="rId38"/>
    </p:embeddedFont>
    <p:embeddedFont>
      <p:font typeface="Sora Medium"/>
      <p:regular r:id="rId39"/>
      <p:bold r:id="rId40"/>
    </p:embeddedFont>
    <p:embeddedFont>
      <p:font typeface="IBM Plex Sans SemiBol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Medium-bold.fntdata"/><Relationship Id="rId42" Type="http://schemas.openxmlformats.org/officeDocument/2006/relationships/font" Target="fonts/IBMPlexSansSemiBold-bold.fntdata"/><Relationship Id="rId41" Type="http://schemas.openxmlformats.org/officeDocument/2006/relationships/font" Target="fonts/IBMPlexSansSemiBold-regular.fntdata"/><Relationship Id="rId44" Type="http://schemas.openxmlformats.org/officeDocument/2006/relationships/font" Target="fonts/IBMPlexSansSemiBold-boldItalic.fntdata"/><Relationship Id="rId43" Type="http://schemas.openxmlformats.org/officeDocument/2006/relationships/font" Target="fonts/IBMPlexSans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BMPlexSansMedium-italic.fntdata"/><Relationship Id="rId30" Type="http://schemas.openxmlformats.org/officeDocument/2006/relationships/font" Target="fonts/IBMPlexSansMedium-bold.fntdata"/><Relationship Id="rId33" Type="http://schemas.openxmlformats.org/officeDocument/2006/relationships/font" Target="fonts/SoraLight-regular.fntdata"/><Relationship Id="rId32" Type="http://schemas.openxmlformats.org/officeDocument/2006/relationships/font" Target="fonts/IBMPlexSansMedium-boldItalic.fntdata"/><Relationship Id="rId35" Type="http://schemas.openxmlformats.org/officeDocument/2006/relationships/font" Target="fonts/SoraExtraLight-regular.fntdata"/><Relationship Id="rId34" Type="http://schemas.openxmlformats.org/officeDocument/2006/relationships/font" Target="fonts/SoraLight-bold.fntdata"/><Relationship Id="rId37" Type="http://schemas.openxmlformats.org/officeDocument/2006/relationships/font" Target="fonts/Sora-regular.fntdata"/><Relationship Id="rId36" Type="http://schemas.openxmlformats.org/officeDocument/2006/relationships/font" Target="fonts/SoraExtraLight-bold.fntdata"/><Relationship Id="rId39" Type="http://schemas.openxmlformats.org/officeDocument/2006/relationships/font" Target="fonts/SoraMedium-regular.fntdata"/><Relationship Id="rId38" Type="http://schemas.openxmlformats.org/officeDocument/2006/relationships/font" Target="fonts/Sora-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Sans-bold.fntdata"/><Relationship Id="rId23" Type="http://schemas.openxmlformats.org/officeDocument/2006/relationships/font" Target="fonts/IBMPlexSans-regular.fntdata"/><Relationship Id="rId26" Type="http://schemas.openxmlformats.org/officeDocument/2006/relationships/font" Target="fonts/IBMPlexSans-boldItalic.fntdata"/><Relationship Id="rId25" Type="http://schemas.openxmlformats.org/officeDocument/2006/relationships/font" Target="fonts/IBMPlexSans-italic.fntdata"/><Relationship Id="rId28" Type="http://schemas.openxmlformats.org/officeDocument/2006/relationships/font" Target="fonts/SoraSemiBold-bold.fntdata"/><Relationship Id="rId27" Type="http://schemas.openxmlformats.org/officeDocument/2006/relationships/font" Target="fonts/SoraSemiBold-regular.fntdata"/><Relationship Id="rId29" Type="http://schemas.openxmlformats.org/officeDocument/2006/relationships/font" Target="fonts/IBMPlexSansMedium-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893db14ba4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893db14ba4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893db14ba4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893db14ba4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893db14ba4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893db14ba4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Develop user stories, use cases, and UML diagrams to establish the system’s structure and behavior.</a:t>
            </a:r>
            <a:endParaRPr/>
          </a:p>
          <a:p>
            <a:pPr indent="-298450" lvl="0" marL="457200" rtl="0" algn="l">
              <a:spcBef>
                <a:spcPts val="0"/>
              </a:spcBef>
              <a:spcAft>
                <a:spcPts val="0"/>
              </a:spcAft>
              <a:buSzPts val="1100"/>
              <a:buChar char="●"/>
            </a:pPr>
            <a:r>
              <a:rPr lang="en"/>
              <a:t>Conduct meetings with our client to refine the project’s vision and identify user needs.</a:t>
            </a:r>
            <a:endParaRPr/>
          </a:p>
          <a:p>
            <a:pPr indent="-298450" lvl="0" marL="457200" rtl="0" algn="l">
              <a:spcBef>
                <a:spcPts val="0"/>
              </a:spcBef>
              <a:spcAft>
                <a:spcPts val="0"/>
              </a:spcAft>
              <a:buSzPts val="1100"/>
              <a:buChar char="●"/>
            </a:pPr>
            <a:r>
              <a:rPr lang="en"/>
              <a:t>.</a:t>
            </a:r>
            <a:endParaRPr/>
          </a:p>
          <a:p>
            <a:pPr indent="-298450" lvl="0" marL="457200" rtl="0" algn="l">
              <a:spcBef>
                <a:spcPts val="0"/>
              </a:spcBef>
              <a:spcAft>
                <a:spcPts val="0"/>
              </a:spcAft>
              <a:buSzPts val="1100"/>
              <a:buChar char="●"/>
            </a:pPr>
            <a:r>
              <a:rPr lang="en"/>
              <a:t>Begin implementing the web interface, AI tutor interaction, and JSON-based quiz system.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a0cbd21e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3a0cbd21e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a0cbd21ef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a0cbd21ef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a0cbd21ef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a0cbd21ef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a0cbd21ef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a0cbd21ef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a0cbd21ef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a0cbd21ef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a0cbd21ef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a0cbd21ef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893db14ba4_3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893db14ba4_3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a0cbd21ef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3a0cbd21ef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a0cbd21ef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a0cbd21ef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a0cbd21ef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3a0cbd21ef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893db14ba4_3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3893db14ba4_3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893db14ba4_3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893db14ba4_3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893db14ba4_3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3893db14ba4_3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89732fb6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389732fb6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youtu.be/Ytxe1ya9yGM?si=ashID6NZFtBwk3x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Team ZJL</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11/5/2025</a:t>
            </a:r>
            <a:endParaRPr>
              <a:latin typeface="Sora"/>
              <a:ea typeface="Sora"/>
              <a:cs typeface="Sora"/>
              <a:sym typeface="Sora"/>
            </a:endParaRPr>
          </a:p>
        </p:txBody>
      </p:sp>
      <p:sp>
        <p:nvSpPr>
          <p:cNvPr id="889" name="Google Shape;889;p51"/>
          <p:cNvSpPr txBox="1"/>
          <p:nvPr>
            <p:ph type="title"/>
          </p:nvPr>
        </p:nvSpPr>
        <p:spPr>
          <a:xfrm>
            <a:off x="124950" y="2915225"/>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200">
                <a:solidFill>
                  <a:schemeClr val="dk2"/>
                </a:solidFill>
              </a:rPr>
              <a:t>AI Tutor - Sprint 2</a:t>
            </a:r>
            <a:endParaRPr sz="4200">
              <a:solidFill>
                <a:schemeClr val="dk2"/>
              </a:solidFill>
            </a:endParaRPr>
          </a:p>
        </p:txBody>
      </p:sp>
      <p:sp>
        <p:nvSpPr>
          <p:cNvPr id="890" name="Google Shape;890;p51"/>
          <p:cNvSpPr txBox="1"/>
          <p:nvPr>
            <p:ph idx="1" type="subTitle"/>
          </p:nvPr>
        </p:nvSpPr>
        <p:spPr>
          <a:xfrm>
            <a:off x="228600" y="4506300"/>
            <a:ext cx="4922100" cy="73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Sora"/>
                <a:ea typeface="Sora"/>
                <a:cs typeface="Sora"/>
                <a:sym typeface="Sora"/>
              </a:rPr>
              <a:t>Demo and Presentation Video</a:t>
            </a:r>
            <a:endParaRPr sz="1600">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52"/>
          <p:cNvSpPr txBox="1"/>
          <p:nvPr>
            <p:ph type="title"/>
          </p:nvPr>
        </p:nvSpPr>
        <p:spPr>
          <a:xfrm>
            <a:off x="96025" y="1206300"/>
            <a:ext cx="6507000" cy="72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896" name="Google Shape;896;p5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897" name="Google Shape;897;p52"/>
          <p:cNvSpPr txBox="1"/>
          <p:nvPr>
            <p:ph idx="1" type="subTitle"/>
          </p:nvPr>
        </p:nvSpPr>
        <p:spPr>
          <a:xfrm>
            <a:off x="228600" y="1934400"/>
            <a:ext cx="3759600" cy="16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Members:</a:t>
            </a:r>
            <a:endParaRPr/>
          </a:p>
          <a:p>
            <a:pPr indent="0" lvl="0" marL="0" rtl="0" algn="l">
              <a:spcBef>
                <a:spcPts val="1000"/>
              </a:spcBef>
              <a:spcAft>
                <a:spcPts val="0"/>
              </a:spcAft>
              <a:buNone/>
            </a:pPr>
            <a:r>
              <a:rPr lang="en"/>
              <a:t>Zachary Mullin, Jesse Boakye, Luis Zarate</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Project: AI Tutoring System for schools</a:t>
            </a:r>
            <a:endParaRPr/>
          </a:p>
        </p:txBody>
      </p:sp>
      <p:sp>
        <p:nvSpPr>
          <p:cNvPr id="898" name="Google Shape;898;p5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53"/>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Objectives </a:t>
            </a:r>
            <a:endParaRPr/>
          </a:p>
        </p:txBody>
      </p:sp>
      <p:sp>
        <p:nvSpPr>
          <p:cNvPr id="904" name="Google Shape;904;p5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05" name="Google Shape;905;p53"/>
          <p:cNvSpPr txBox="1"/>
          <p:nvPr>
            <p:ph idx="1" type="subTitle"/>
          </p:nvPr>
        </p:nvSpPr>
        <p:spPr>
          <a:xfrm>
            <a:off x="96025" y="2179025"/>
            <a:ext cx="5042100" cy="25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The goals for Sprint 2: </a:t>
            </a:r>
            <a:endParaRPr sz="1300"/>
          </a:p>
          <a:p>
            <a:pPr indent="-311150" lvl="0" marL="457200" rtl="0" algn="l">
              <a:spcBef>
                <a:spcPts val="1000"/>
              </a:spcBef>
              <a:spcAft>
                <a:spcPts val="0"/>
              </a:spcAft>
              <a:buSzPts val="1300"/>
              <a:buChar char="●"/>
            </a:pPr>
            <a:r>
              <a:rPr lang="en" sz="1300"/>
              <a:t>Primary: Set up the Local LLM to replace the Gemini API.</a:t>
            </a:r>
            <a:endParaRPr sz="1300"/>
          </a:p>
          <a:p>
            <a:pPr indent="-311150" lvl="0" marL="457200" rtl="0" algn="l">
              <a:spcBef>
                <a:spcPts val="0"/>
              </a:spcBef>
              <a:spcAft>
                <a:spcPts val="0"/>
              </a:spcAft>
              <a:buSzPts val="1300"/>
              <a:buChar char="●"/>
            </a:pPr>
            <a:r>
              <a:rPr lang="en" sz="1300"/>
              <a:t>Primary: Set up RAG (Retrieval Augmented Generation) for use with the LLM</a:t>
            </a:r>
            <a:endParaRPr sz="1300"/>
          </a:p>
          <a:p>
            <a:pPr indent="-311150" lvl="0" marL="457200" rtl="0" algn="l">
              <a:spcBef>
                <a:spcPts val="0"/>
              </a:spcBef>
              <a:spcAft>
                <a:spcPts val="0"/>
              </a:spcAft>
              <a:buSzPts val="1300"/>
              <a:buChar char="●"/>
            </a:pPr>
            <a:r>
              <a:rPr lang="en" sz="1300"/>
              <a:t>Primary: Add a GUI element for JSON-based quizzes</a:t>
            </a:r>
            <a:endParaRPr sz="1300"/>
          </a:p>
          <a:p>
            <a:pPr indent="-311150" lvl="0" marL="457200" rtl="0" algn="l">
              <a:spcBef>
                <a:spcPts val="0"/>
              </a:spcBef>
              <a:spcAft>
                <a:spcPts val="0"/>
              </a:spcAft>
              <a:buSzPts val="1300"/>
              <a:buChar char="●"/>
            </a:pPr>
            <a:r>
              <a:rPr lang="en" sz="1300"/>
              <a:t>Secondary: Set up multi-session chat system</a:t>
            </a:r>
            <a:endParaRPr sz="1300"/>
          </a:p>
        </p:txBody>
      </p:sp>
      <p:sp>
        <p:nvSpPr>
          <p:cNvPr id="906" name="Google Shape;906;p5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54"/>
          <p:cNvSpPr txBox="1"/>
          <p:nvPr>
            <p:ph type="title"/>
          </p:nvPr>
        </p:nvSpPr>
        <p:spPr>
          <a:xfrm>
            <a:off x="96025" y="1206300"/>
            <a:ext cx="6507000" cy="82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 Overview</a:t>
            </a:r>
            <a:endParaRPr/>
          </a:p>
        </p:txBody>
      </p:sp>
      <p:sp>
        <p:nvSpPr>
          <p:cNvPr id="912" name="Google Shape;912;p5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13" name="Google Shape;913;p54"/>
          <p:cNvSpPr txBox="1"/>
          <p:nvPr>
            <p:ph idx="1" type="subTitle"/>
          </p:nvPr>
        </p:nvSpPr>
        <p:spPr>
          <a:xfrm>
            <a:off x="96025" y="2133675"/>
            <a:ext cx="2202600" cy="258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Zachary Mullin:</a:t>
            </a:r>
            <a:endParaRPr/>
          </a:p>
          <a:p>
            <a:pPr indent="-292100" lvl="0" marL="457200" rtl="0" algn="l">
              <a:spcBef>
                <a:spcPts val="1000"/>
              </a:spcBef>
              <a:spcAft>
                <a:spcPts val="0"/>
              </a:spcAft>
              <a:buSzPts val="1000"/>
              <a:buChar char="●"/>
            </a:pPr>
            <a:r>
              <a:rPr lang="en"/>
              <a:t>Set up Local LLM system</a:t>
            </a:r>
            <a:endParaRPr/>
          </a:p>
          <a:p>
            <a:pPr indent="-292100" lvl="1" marL="914400" rtl="0" algn="l">
              <a:spcBef>
                <a:spcPts val="0"/>
              </a:spcBef>
              <a:spcAft>
                <a:spcPts val="0"/>
              </a:spcAft>
              <a:buSzPts val="1000"/>
              <a:buChar char="○"/>
            </a:pPr>
            <a:r>
              <a:rPr lang="en"/>
              <a:t>Defaults to LLaMA 3.2 1B Instruct</a:t>
            </a:r>
            <a:endParaRPr/>
          </a:p>
          <a:p>
            <a:pPr indent="-292100" lvl="1" marL="914400" rtl="0" algn="l">
              <a:spcBef>
                <a:spcPts val="0"/>
              </a:spcBef>
              <a:spcAft>
                <a:spcPts val="0"/>
              </a:spcAft>
              <a:buSzPts val="1000"/>
              <a:buChar char="○"/>
            </a:pPr>
            <a:r>
              <a:rPr lang="en"/>
              <a:t>Can be swapped easily</a:t>
            </a:r>
            <a:endParaRPr/>
          </a:p>
          <a:p>
            <a:pPr indent="-292100" lvl="0" marL="457200" rtl="0" algn="l">
              <a:spcBef>
                <a:spcPts val="0"/>
              </a:spcBef>
              <a:spcAft>
                <a:spcPts val="0"/>
              </a:spcAft>
              <a:buSzPts val="1000"/>
              <a:buChar char="●"/>
            </a:pPr>
            <a:r>
              <a:rPr lang="en"/>
              <a:t>Updated Django backend to communicate with Local LLM rather than Gemini</a:t>
            </a:r>
            <a:endParaRPr/>
          </a:p>
        </p:txBody>
      </p:sp>
      <p:sp>
        <p:nvSpPr>
          <p:cNvPr id="914" name="Google Shape;914;p5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5" name="Google Shape;915;p54"/>
          <p:cNvSpPr txBox="1"/>
          <p:nvPr>
            <p:ph idx="1" type="subTitle"/>
          </p:nvPr>
        </p:nvSpPr>
        <p:spPr>
          <a:xfrm>
            <a:off x="2298625" y="2133675"/>
            <a:ext cx="2202600" cy="258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Jesse Boakye:</a:t>
            </a:r>
            <a:endParaRPr/>
          </a:p>
          <a:p>
            <a:pPr indent="-292100" lvl="0" marL="457200" rtl="0" algn="l">
              <a:spcBef>
                <a:spcPts val="1000"/>
              </a:spcBef>
              <a:spcAft>
                <a:spcPts val="0"/>
              </a:spcAft>
              <a:buSzPts val="1000"/>
              <a:buChar char="●"/>
            </a:pPr>
            <a:r>
              <a:rPr lang="en"/>
              <a:t>Implemented an in browser quiz UI.</a:t>
            </a:r>
            <a:endParaRPr/>
          </a:p>
          <a:p>
            <a:pPr indent="-292100" lvl="1" marL="914400" rtl="0" algn="l">
              <a:spcBef>
                <a:spcPts val="0"/>
              </a:spcBef>
              <a:spcAft>
                <a:spcPts val="0"/>
              </a:spcAft>
              <a:buSzPts val="1000"/>
              <a:buChar char="○"/>
            </a:pPr>
            <a:r>
              <a:rPr lang="en"/>
              <a:t>Disables the text box while quiz is active</a:t>
            </a:r>
            <a:endParaRPr/>
          </a:p>
          <a:p>
            <a:pPr indent="-292100" lvl="0" marL="457200" rtl="0" algn="l">
              <a:spcBef>
                <a:spcPts val="0"/>
              </a:spcBef>
              <a:spcAft>
                <a:spcPts val="0"/>
              </a:spcAft>
              <a:buSzPts val="1000"/>
              <a:buChar char="●"/>
            </a:pPr>
            <a:r>
              <a:rPr lang="en"/>
              <a:t>Implemented quiz feedback modal, that should correct and incorrect answers</a:t>
            </a:r>
            <a:br>
              <a:rPr lang="en"/>
            </a:br>
            <a:endParaRPr/>
          </a:p>
        </p:txBody>
      </p:sp>
      <p:sp>
        <p:nvSpPr>
          <p:cNvPr id="916" name="Google Shape;916;p54"/>
          <p:cNvSpPr txBox="1"/>
          <p:nvPr>
            <p:ph idx="1" type="subTitle"/>
          </p:nvPr>
        </p:nvSpPr>
        <p:spPr>
          <a:xfrm>
            <a:off x="4388497" y="2133675"/>
            <a:ext cx="2202600" cy="258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Luis Zarate:</a:t>
            </a:r>
            <a:endParaRPr/>
          </a:p>
          <a:p>
            <a:pPr indent="-292100" lvl="0" marL="457200" rtl="0" algn="l">
              <a:spcBef>
                <a:spcPts val="1000"/>
              </a:spcBef>
              <a:spcAft>
                <a:spcPts val="0"/>
              </a:spcAft>
              <a:buSzPts val="1000"/>
              <a:buChar char="●"/>
            </a:pPr>
            <a:r>
              <a:rPr lang="en"/>
              <a:t>Document-driven responses: Loads and indexes PDFs and text files for context-aware answers.  </a:t>
            </a:r>
            <a:endParaRPr/>
          </a:p>
          <a:p>
            <a:pPr indent="-292100" lvl="0" marL="457200" rtl="0" algn="l">
              <a:spcBef>
                <a:spcPts val="0"/>
              </a:spcBef>
              <a:spcAft>
                <a:spcPts val="0"/>
              </a:spcAft>
              <a:buSzPts val="1000"/>
              <a:buChar char="●"/>
            </a:pPr>
            <a:r>
              <a:rPr lang="en"/>
              <a:t>Vector search with embeddings: Uses semantic search to retrieve relevant information for the LLM.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55"/>
          <p:cNvSpPr txBox="1"/>
          <p:nvPr>
            <p:ph type="title"/>
          </p:nvPr>
        </p:nvSpPr>
        <p:spPr>
          <a:xfrm>
            <a:off x="96025" y="1206300"/>
            <a:ext cx="6507000" cy="7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and After: LLM</a:t>
            </a:r>
            <a:endParaRPr/>
          </a:p>
        </p:txBody>
      </p:sp>
      <p:sp>
        <p:nvSpPr>
          <p:cNvPr id="922" name="Google Shape;922;p5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23" name="Google Shape;923;p55"/>
          <p:cNvSpPr txBox="1"/>
          <p:nvPr>
            <p:ph idx="1" type="subTitle"/>
          </p:nvPr>
        </p:nvSpPr>
        <p:spPr>
          <a:xfrm>
            <a:off x="115025" y="2149150"/>
            <a:ext cx="6394200" cy="257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a:t>
            </a:r>
            <a:endParaRPr/>
          </a:p>
          <a:p>
            <a:pPr indent="-292100" lvl="0" marL="457200" rtl="0" algn="l">
              <a:spcBef>
                <a:spcPts val="1000"/>
              </a:spcBef>
              <a:spcAft>
                <a:spcPts val="0"/>
              </a:spcAft>
              <a:buSzPts val="1000"/>
              <a:buChar char="●"/>
            </a:pPr>
            <a:r>
              <a:rPr lang="en"/>
              <a:t>Used the Gemini API</a:t>
            </a:r>
            <a:endParaRPr/>
          </a:p>
          <a:p>
            <a:pPr indent="-292100" lvl="0" marL="457200" rtl="0" algn="l">
              <a:spcBef>
                <a:spcPts val="0"/>
              </a:spcBef>
              <a:spcAft>
                <a:spcPts val="0"/>
              </a:spcAft>
              <a:buSzPts val="1000"/>
              <a:buChar char="●"/>
            </a:pPr>
            <a:r>
              <a:rPr lang="en"/>
              <a:t>Had to stay connected to the internet at all times</a:t>
            </a:r>
            <a:endParaRPr/>
          </a:p>
          <a:p>
            <a:pPr indent="-292100" lvl="0" marL="457200" rtl="0" algn="l">
              <a:spcBef>
                <a:spcPts val="0"/>
              </a:spcBef>
              <a:spcAft>
                <a:spcPts val="0"/>
              </a:spcAft>
              <a:buSzPts val="1000"/>
              <a:buChar char="●"/>
            </a:pPr>
            <a:r>
              <a:rPr lang="en"/>
              <a:t>Was on a free API license, giving us only a small number of tokens</a:t>
            </a:r>
            <a:endParaRPr/>
          </a:p>
          <a:p>
            <a:pPr indent="-292100" lvl="0" marL="457200" rtl="0" algn="l">
              <a:spcBef>
                <a:spcPts val="0"/>
              </a:spcBef>
              <a:spcAft>
                <a:spcPts val="0"/>
              </a:spcAft>
              <a:buSzPts val="1000"/>
              <a:buChar char="●"/>
            </a:pPr>
            <a:r>
              <a:rPr lang="en"/>
              <a:t>Client request was to use a local LLM, Gemini was only ever temporary</a:t>
            </a:r>
            <a:endParaRPr/>
          </a:p>
          <a:p>
            <a:pPr indent="0" lvl="0" marL="0" rtl="0" algn="l">
              <a:spcBef>
                <a:spcPts val="1000"/>
              </a:spcBef>
              <a:spcAft>
                <a:spcPts val="0"/>
              </a:spcAft>
              <a:buNone/>
            </a:pPr>
            <a:r>
              <a:rPr lang="en"/>
              <a:t>After:</a:t>
            </a:r>
            <a:endParaRPr/>
          </a:p>
          <a:p>
            <a:pPr indent="-292100" lvl="0" marL="457200" rtl="0" algn="l">
              <a:spcBef>
                <a:spcPts val="1000"/>
              </a:spcBef>
              <a:spcAft>
                <a:spcPts val="0"/>
              </a:spcAft>
              <a:buSzPts val="1000"/>
              <a:buChar char="●"/>
            </a:pPr>
            <a:r>
              <a:rPr lang="en"/>
              <a:t>Now uses Huggingface Transformers to </a:t>
            </a:r>
            <a:r>
              <a:rPr lang="en"/>
              <a:t>setup</a:t>
            </a:r>
            <a:r>
              <a:rPr lang="en"/>
              <a:t> a local LLM</a:t>
            </a:r>
            <a:endParaRPr/>
          </a:p>
          <a:p>
            <a:pPr indent="-292100" lvl="0" marL="457200" rtl="0" algn="l">
              <a:spcBef>
                <a:spcPts val="0"/>
              </a:spcBef>
              <a:spcAft>
                <a:spcPts val="0"/>
              </a:spcAft>
              <a:buSzPts val="1000"/>
              <a:buChar char="●"/>
            </a:pPr>
            <a:r>
              <a:rPr lang="en"/>
              <a:t>Connects to the internet once to download LLM tensors and then can be ran entirely locally from then on</a:t>
            </a:r>
            <a:endParaRPr/>
          </a:p>
          <a:p>
            <a:pPr indent="-292100" lvl="0" marL="457200" rtl="0" algn="l">
              <a:spcBef>
                <a:spcPts val="0"/>
              </a:spcBef>
              <a:spcAft>
                <a:spcPts val="0"/>
              </a:spcAft>
              <a:buSzPts val="1000"/>
              <a:buChar char="●"/>
            </a:pPr>
            <a:r>
              <a:rPr lang="en"/>
              <a:t>Infinite tokens, runs entirely locally</a:t>
            </a:r>
            <a:endParaRPr/>
          </a:p>
          <a:p>
            <a:pPr indent="-292100" lvl="0" marL="457200" rtl="0" algn="l">
              <a:spcBef>
                <a:spcPts val="0"/>
              </a:spcBef>
              <a:spcAft>
                <a:spcPts val="0"/>
              </a:spcAft>
              <a:buSzPts val="1000"/>
              <a:buChar char="●"/>
            </a:pPr>
            <a:r>
              <a:rPr lang="en"/>
              <a:t>Defaults to LLaMA-3.2-1B-Instruct, but can be swapped for any LLM available on Huggingface (When new models release, they can be swapped in easily)</a:t>
            </a:r>
            <a:endParaRPr/>
          </a:p>
        </p:txBody>
      </p:sp>
      <p:sp>
        <p:nvSpPr>
          <p:cNvPr id="924" name="Google Shape;924;p5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56"/>
          <p:cNvSpPr txBox="1"/>
          <p:nvPr>
            <p:ph type="title"/>
          </p:nvPr>
        </p:nvSpPr>
        <p:spPr>
          <a:xfrm>
            <a:off x="96025" y="1206300"/>
            <a:ext cx="6507000" cy="7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and After: RAG</a:t>
            </a:r>
            <a:endParaRPr/>
          </a:p>
        </p:txBody>
      </p:sp>
      <p:sp>
        <p:nvSpPr>
          <p:cNvPr id="930" name="Google Shape;930;p5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31" name="Google Shape;931;p56"/>
          <p:cNvSpPr txBox="1"/>
          <p:nvPr>
            <p:ph idx="1" type="subTitle"/>
          </p:nvPr>
        </p:nvSpPr>
        <p:spPr>
          <a:xfrm>
            <a:off x="115025" y="2205825"/>
            <a:ext cx="6167400" cy="251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a:t>
            </a:r>
            <a:endParaRPr/>
          </a:p>
          <a:p>
            <a:pPr indent="-292100" lvl="0" marL="457200" rtl="0" algn="l">
              <a:spcBef>
                <a:spcPts val="1000"/>
              </a:spcBef>
              <a:spcAft>
                <a:spcPts val="0"/>
              </a:spcAft>
              <a:buSzPts val="1000"/>
              <a:buChar char="●"/>
            </a:pPr>
            <a:r>
              <a:rPr lang="en"/>
              <a:t>Chatbot only uses pretrained knowledge, limited accuracy.</a:t>
            </a:r>
            <a:endParaRPr/>
          </a:p>
          <a:p>
            <a:pPr indent="-292100" lvl="0" marL="457200" rtl="0" algn="l">
              <a:spcBef>
                <a:spcPts val="0"/>
              </a:spcBef>
              <a:spcAft>
                <a:spcPts val="0"/>
              </a:spcAft>
              <a:buSzPts val="1000"/>
              <a:buChar char="●"/>
            </a:pPr>
            <a:r>
              <a:rPr lang="en"/>
              <a:t>Cannot answer specific course content questions reliably.</a:t>
            </a:r>
            <a:endParaRPr/>
          </a:p>
          <a:p>
            <a:pPr indent="-292100" lvl="0" marL="457200" rtl="0" algn="l">
              <a:spcBef>
                <a:spcPts val="0"/>
              </a:spcBef>
              <a:spcAft>
                <a:spcPts val="0"/>
              </a:spcAft>
              <a:buSzPts val="1000"/>
              <a:buChar char="●"/>
            </a:pPr>
            <a:r>
              <a:rPr lang="en"/>
              <a:t>Responses often generic or outdated.</a:t>
            </a:r>
            <a:endParaRPr/>
          </a:p>
          <a:p>
            <a:pPr indent="-292100" lvl="0" marL="457200" rtl="0" algn="l">
              <a:spcBef>
                <a:spcPts val="0"/>
              </a:spcBef>
              <a:spcAft>
                <a:spcPts val="0"/>
              </a:spcAft>
              <a:buSzPts val="1000"/>
              <a:buChar char="●"/>
            </a:pPr>
            <a:r>
              <a:rPr lang="en"/>
              <a:t>No access to external files or documents.</a:t>
            </a:r>
            <a:endParaRPr/>
          </a:p>
          <a:p>
            <a:pPr indent="0" lvl="0" marL="0" rtl="0" algn="l">
              <a:spcBef>
                <a:spcPts val="1000"/>
              </a:spcBef>
              <a:spcAft>
                <a:spcPts val="0"/>
              </a:spcAft>
              <a:buNone/>
            </a:pPr>
            <a:r>
              <a:rPr lang="en"/>
              <a:t>After:</a:t>
            </a:r>
            <a:endParaRPr/>
          </a:p>
          <a:p>
            <a:pPr indent="-292100" lvl="0" marL="457200" rtl="0" algn="l">
              <a:spcBef>
                <a:spcPts val="1000"/>
              </a:spcBef>
              <a:spcAft>
                <a:spcPts val="0"/>
              </a:spcAft>
              <a:buSzPts val="1000"/>
              <a:buChar char="●"/>
            </a:pPr>
            <a:r>
              <a:rPr lang="en"/>
              <a:t>Retrieves relevant information from documents in real time.</a:t>
            </a:r>
            <a:endParaRPr/>
          </a:p>
          <a:p>
            <a:pPr indent="-292100" lvl="0" marL="457200" rtl="0" algn="l">
              <a:spcBef>
                <a:spcPts val="0"/>
              </a:spcBef>
              <a:spcAft>
                <a:spcPts val="0"/>
              </a:spcAft>
              <a:buSzPts val="1000"/>
              <a:buChar char="●"/>
            </a:pPr>
            <a:r>
              <a:rPr lang="en"/>
              <a:t>Answers are context-aware and accurate.</a:t>
            </a:r>
            <a:endParaRPr/>
          </a:p>
          <a:p>
            <a:pPr indent="-292100" lvl="0" marL="457200" rtl="0" algn="l">
              <a:spcBef>
                <a:spcPts val="0"/>
              </a:spcBef>
              <a:spcAft>
                <a:spcPts val="0"/>
              </a:spcAft>
              <a:buSzPts val="1000"/>
              <a:buChar char="●"/>
            </a:pPr>
            <a:r>
              <a:rPr lang="en"/>
              <a:t>Always up-to-date with curriculum content.</a:t>
            </a:r>
            <a:endParaRPr/>
          </a:p>
          <a:p>
            <a:pPr indent="-292100" lvl="0" marL="457200" rtl="0" algn="l">
              <a:spcBef>
                <a:spcPts val="0"/>
              </a:spcBef>
              <a:spcAft>
                <a:spcPts val="0"/>
              </a:spcAft>
              <a:buSzPts val="1000"/>
              <a:buChar char="●"/>
            </a:pPr>
            <a:r>
              <a:rPr lang="en"/>
              <a:t>Can reference PDFs, text files, or resources directly.</a:t>
            </a:r>
            <a:endParaRPr/>
          </a:p>
        </p:txBody>
      </p:sp>
      <p:sp>
        <p:nvSpPr>
          <p:cNvPr id="932" name="Google Shape;932;p5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57"/>
          <p:cNvSpPr txBox="1"/>
          <p:nvPr>
            <p:ph type="title"/>
          </p:nvPr>
        </p:nvSpPr>
        <p:spPr>
          <a:xfrm>
            <a:off x="96025" y="1206300"/>
            <a:ext cx="7639800" cy="7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and After: User Interface</a:t>
            </a:r>
            <a:endParaRPr/>
          </a:p>
        </p:txBody>
      </p:sp>
      <p:sp>
        <p:nvSpPr>
          <p:cNvPr id="938" name="Google Shape;938;p57"/>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39" name="Google Shape;939;p57"/>
          <p:cNvSpPr txBox="1"/>
          <p:nvPr>
            <p:ph idx="1" type="subTitle"/>
          </p:nvPr>
        </p:nvSpPr>
        <p:spPr>
          <a:xfrm>
            <a:off x="115025" y="2205825"/>
            <a:ext cx="6167400" cy="251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a:t>
            </a:r>
            <a:endParaRPr/>
          </a:p>
          <a:p>
            <a:pPr indent="-292100" lvl="0" marL="457200" rtl="0" algn="l">
              <a:spcBef>
                <a:spcPts val="1000"/>
              </a:spcBef>
              <a:spcAft>
                <a:spcPts val="0"/>
              </a:spcAft>
              <a:buSzPts val="1000"/>
              <a:buChar char="-"/>
            </a:pPr>
            <a:r>
              <a:rPr lang="en"/>
              <a:t>Chat input remained active during quizzes</a:t>
            </a:r>
            <a:endParaRPr/>
          </a:p>
          <a:p>
            <a:pPr indent="-292100" lvl="0" marL="457200" rtl="0" algn="l">
              <a:spcBef>
                <a:spcPts val="0"/>
              </a:spcBef>
              <a:spcAft>
                <a:spcPts val="0"/>
              </a:spcAft>
              <a:buSzPts val="1000"/>
              <a:buChar char="-"/>
            </a:pPr>
            <a:r>
              <a:rPr lang="en"/>
              <a:t>Quizzes were rendered as plain json format</a:t>
            </a:r>
            <a:endParaRPr/>
          </a:p>
          <a:p>
            <a:pPr indent="-292100" lvl="0" marL="457200" rtl="0" algn="l">
              <a:spcBef>
                <a:spcPts val="0"/>
              </a:spcBef>
              <a:spcAft>
                <a:spcPts val="0"/>
              </a:spcAft>
              <a:buSzPts val="1000"/>
              <a:buChar char="-"/>
            </a:pPr>
            <a:r>
              <a:rPr lang="en"/>
              <a:t>Sessions were were not created or manage by the UI</a:t>
            </a:r>
            <a:endParaRPr/>
          </a:p>
          <a:p>
            <a:pPr indent="0" lvl="0" marL="0" rtl="0" algn="l">
              <a:spcBef>
                <a:spcPts val="1000"/>
              </a:spcBef>
              <a:spcAft>
                <a:spcPts val="0"/>
              </a:spcAft>
              <a:buNone/>
            </a:pPr>
            <a:r>
              <a:rPr lang="en"/>
              <a:t>After</a:t>
            </a:r>
            <a:endParaRPr/>
          </a:p>
          <a:p>
            <a:pPr indent="-292100" lvl="0" marL="457200" rtl="0" algn="l">
              <a:spcBef>
                <a:spcPts val="1000"/>
              </a:spcBef>
              <a:spcAft>
                <a:spcPts val="0"/>
              </a:spcAft>
              <a:buSzPts val="1000"/>
              <a:buChar char="-"/>
            </a:pPr>
            <a:r>
              <a:rPr lang="en"/>
              <a:t>When a quiz arrives, a dedicated quiz card appears above the chat and the chat textbox is </a:t>
            </a:r>
            <a:r>
              <a:rPr lang="en"/>
              <a:t>disabled</a:t>
            </a:r>
            <a:r>
              <a:rPr lang="en"/>
              <a:t> until the quiz is submitted. Preventing any mixed inputs</a:t>
            </a:r>
            <a:endParaRPr/>
          </a:p>
          <a:p>
            <a:pPr indent="-292100" lvl="0" marL="457200" rtl="0" algn="l">
              <a:spcBef>
                <a:spcPts val="0"/>
              </a:spcBef>
              <a:spcAft>
                <a:spcPts val="0"/>
              </a:spcAft>
              <a:buSzPts val="1000"/>
              <a:buChar char="-"/>
            </a:pPr>
            <a:r>
              <a:rPr lang="en"/>
              <a:t>The UI collects answers as CSV-style </a:t>
            </a:r>
            <a:r>
              <a:rPr lang="en"/>
              <a:t>string and post them to backend for grading.</a:t>
            </a:r>
            <a:endParaRPr/>
          </a:p>
          <a:p>
            <a:pPr indent="-292100" lvl="0" marL="457200" rtl="0" algn="l">
              <a:spcBef>
                <a:spcPts val="0"/>
              </a:spcBef>
              <a:spcAft>
                <a:spcPts val="0"/>
              </a:spcAft>
              <a:buSzPts val="1000"/>
              <a:buChar char="-"/>
            </a:pPr>
            <a:r>
              <a:rPr lang="en"/>
              <a:t>“New Session” creates a server-backed sessions and stores the returned session id on the client(sidebar update.)</a:t>
            </a:r>
            <a:endParaRPr/>
          </a:p>
          <a:p>
            <a:pPr indent="-292100" lvl="0" marL="457200" rtl="0" algn="l">
              <a:spcBef>
                <a:spcPts val="0"/>
              </a:spcBef>
              <a:spcAft>
                <a:spcPts val="0"/>
              </a:spcAft>
              <a:buSzPts val="1000"/>
              <a:buChar char="-"/>
            </a:pPr>
            <a:r>
              <a:rPr lang="en"/>
              <a:t>Currently perfectly functional with the Gemini API. It is very unstable with the local LLM.</a:t>
            </a:r>
            <a:endParaRPr/>
          </a:p>
        </p:txBody>
      </p:sp>
      <p:sp>
        <p:nvSpPr>
          <p:cNvPr id="940" name="Google Shape;940;p5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5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 Demo</a:t>
            </a:r>
            <a:endParaRPr/>
          </a:p>
        </p:txBody>
      </p:sp>
      <p:sp>
        <p:nvSpPr>
          <p:cNvPr id="946" name="Google Shape;946;p5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47" name="Google Shape;947;p5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59"/>
          <p:cNvSpPr txBox="1"/>
          <p:nvPr>
            <p:ph type="title"/>
          </p:nvPr>
        </p:nvSpPr>
        <p:spPr>
          <a:xfrm>
            <a:off x="96025" y="1206300"/>
            <a:ext cx="7639800" cy="7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Figma</a:t>
            </a:r>
            <a:endParaRPr/>
          </a:p>
        </p:txBody>
      </p:sp>
      <p:sp>
        <p:nvSpPr>
          <p:cNvPr id="953" name="Google Shape;953;p59"/>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54" name="Google Shape;954;p59"/>
          <p:cNvSpPr txBox="1"/>
          <p:nvPr>
            <p:ph idx="1" type="subTitle"/>
          </p:nvPr>
        </p:nvSpPr>
        <p:spPr>
          <a:xfrm>
            <a:off x="115025" y="2205825"/>
            <a:ext cx="6167400" cy="251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did not need to use Figma to design new user interfaces for this sprint.</a:t>
            </a:r>
            <a:endParaRPr/>
          </a:p>
          <a:p>
            <a:pPr indent="0" lvl="0" marL="0" rtl="0" algn="l">
              <a:spcBef>
                <a:spcPts val="1000"/>
              </a:spcBef>
              <a:spcAft>
                <a:spcPts val="0"/>
              </a:spcAft>
              <a:buNone/>
            </a:pPr>
            <a:r>
              <a:rPr lang="en"/>
              <a:t>Our current user interfaces largely served their purposes from sprint 1, and our design goals for those interfaces have not shifted.</a:t>
            </a:r>
            <a:endParaRPr/>
          </a:p>
          <a:p>
            <a:pPr indent="0" lvl="0" marL="0" rtl="0" algn="l">
              <a:spcBef>
                <a:spcPts val="1000"/>
              </a:spcBef>
              <a:spcAft>
                <a:spcPts val="1000"/>
              </a:spcAft>
              <a:buNone/>
            </a:pPr>
            <a:r>
              <a:rPr lang="en"/>
              <a:t>For Sprint 3, with the addition of mastery tracking and a dashboard, we will need Figma prototypes.</a:t>
            </a:r>
            <a:endParaRPr/>
          </a:p>
        </p:txBody>
      </p:sp>
      <p:sp>
        <p:nvSpPr>
          <p:cNvPr id="955" name="Google Shape;955;p5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6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Kanban Overview</a:t>
            </a:r>
            <a:endParaRPr/>
          </a:p>
        </p:txBody>
      </p:sp>
      <p:sp>
        <p:nvSpPr>
          <p:cNvPr id="961" name="Google Shape;961;p6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62" name="Google Shape;962;p6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61"/>
          <p:cNvSpPr txBox="1"/>
          <p:nvPr>
            <p:ph type="title"/>
          </p:nvPr>
        </p:nvSpPr>
        <p:spPr>
          <a:xfrm>
            <a:off x="96025" y="1206300"/>
            <a:ext cx="7639800" cy="7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Architecture</a:t>
            </a:r>
            <a:endParaRPr/>
          </a:p>
        </p:txBody>
      </p:sp>
      <p:sp>
        <p:nvSpPr>
          <p:cNvPr id="968" name="Google Shape;968;p61"/>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69" name="Google Shape;969;p61"/>
          <p:cNvSpPr txBox="1"/>
          <p:nvPr>
            <p:ph idx="1" type="subTitle"/>
          </p:nvPr>
        </p:nvSpPr>
        <p:spPr>
          <a:xfrm>
            <a:off x="115025" y="1895400"/>
            <a:ext cx="6167400" cy="282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The system can be split up into three major components:</a:t>
            </a:r>
            <a:endParaRPr sz="1100"/>
          </a:p>
          <a:p>
            <a:pPr indent="-298450" lvl="0" marL="457200" rtl="0" algn="l">
              <a:spcBef>
                <a:spcPts val="1000"/>
              </a:spcBef>
              <a:spcAft>
                <a:spcPts val="0"/>
              </a:spcAft>
              <a:buSzPts val="1100"/>
              <a:buChar char="●"/>
            </a:pPr>
            <a:r>
              <a:rPr lang="en" sz="1100"/>
              <a:t>Large Language Model - The brain of the tutor. This is the AI model that receives the chat requests and returns the response.</a:t>
            </a:r>
            <a:endParaRPr sz="1100"/>
          </a:p>
          <a:p>
            <a:pPr indent="-298450" lvl="0" marL="457200" rtl="0" algn="l">
              <a:spcBef>
                <a:spcPts val="0"/>
              </a:spcBef>
              <a:spcAft>
                <a:spcPts val="0"/>
              </a:spcAft>
              <a:buSzPts val="1100"/>
              <a:buChar char="●"/>
            </a:pPr>
            <a:r>
              <a:rPr lang="en" sz="1100"/>
              <a:t>Django Backend - This is the “backbone” of the tutoring system. It is what sends information back and forth between the language model and the user interface. It also stores any files that need to be used by RAG.</a:t>
            </a:r>
            <a:endParaRPr sz="1100"/>
          </a:p>
          <a:p>
            <a:pPr indent="-298450" lvl="0" marL="457200" rtl="0" algn="l">
              <a:spcBef>
                <a:spcPts val="0"/>
              </a:spcBef>
              <a:spcAft>
                <a:spcPts val="0"/>
              </a:spcAft>
              <a:buSzPts val="1100"/>
              <a:buChar char="●"/>
            </a:pPr>
            <a:r>
              <a:rPr lang="en" sz="1100"/>
              <a:t>Frontend / User Interface - The UI is what the user uses to ask questions for the tutor and displays the tutor’s responses. It is also what the user uses to answer quizzes that the tutor gives them.</a:t>
            </a:r>
            <a:endParaRPr sz="1100"/>
          </a:p>
          <a:p>
            <a:pPr indent="0" lvl="0" marL="0" rtl="0" algn="l">
              <a:spcBef>
                <a:spcPts val="1000"/>
              </a:spcBef>
              <a:spcAft>
                <a:spcPts val="1000"/>
              </a:spcAft>
              <a:buNone/>
            </a:pPr>
            <a:r>
              <a:rPr lang="en" sz="1100"/>
              <a:t>When the user asks a question through the frontend, it is sent to the backend, which sets up a chat string containing RAG info and chat history for the LLM to use in formulating a response. The LLM will then send the response back to the backend, and it will be displayed in the UI.</a:t>
            </a:r>
            <a:endParaRPr sz="1100"/>
          </a:p>
        </p:txBody>
      </p:sp>
      <p:sp>
        <p:nvSpPr>
          <p:cNvPr id="970" name="Google Shape;970;p6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62"/>
          <p:cNvSpPr txBox="1"/>
          <p:nvPr>
            <p:ph type="title"/>
          </p:nvPr>
        </p:nvSpPr>
        <p:spPr>
          <a:xfrm>
            <a:off x="96025" y="1206300"/>
            <a:ext cx="6507000" cy="72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User Interface Design</a:t>
            </a:r>
            <a:endParaRPr/>
          </a:p>
        </p:txBody>
      </p:sp>
      <p:sp>
        <p:nvSpPr>
          <p:cNvPr id="976" name="Google Shape;976;p6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77" name="Google Shape;977;p62"/>
          <p:cNvSpPr txBox="1"/>
          <p:nvPr>
            <p:ph idx="1" type="subTitle"/>
          </p:nvPr>
        </p:nvSpPr>
        <p:spPr>
          <a:xfrm>
            <a:off x="115025" y="2143975"/>
            <a:ext cx="6440700" cy="25788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
              <a:t>Implemented a login requirement before accessing chat</a:t>
            </a:r>
            <a:endParaRPr/>
          </a:p>
          <a:p>
            <a:pPr indent="-292100" lvl="0" marL="457200" rtl="0" algn="l">
              <a:spcBef>
                <a:spcPts val="0"/>
              </a:spcBef>
              <a:spcAft>
                <a:spcPts val="0"/>
              </a:spcAft>
              <a:buSzPts val="1000"/>
              <a:buChar char="-"/>
            </a:pPr>
            <a:r>
              <a:rPr lang="en"/>
              <a:t>Users can now create and view active sessions</a:t>
            </a:r>
            <a:endParaRPr/>
          </a:p>
          <a:p>
            <a:pPr indent="-292100" lvl="0" marL="457200" rtl="0" algn="l">
              <a:spcBef>
                <a:spcPts val="0"/>
              </a:spcBef>
              <a:spcAft>
                <a:spcPts val="0"/>
              </a:spcAft>
              <a:buSzPts val="1000"/>
              <a:buChar char="-"/>
            </a:pPr>
            <a:r>
              <a:rPr lang="en"/>
              <a:t>Session data is now persisted</a:t>
            </a:r>
            <a:endParaRPr/>
          </a:p>
          <a:p>
            <a:pPr indent="-292100" lvl="0" marL="457200" rtl="0" algn="l">
              <a:spcBef>
                <a:spcPts val="0"/>
              </a:spcBef>
              <a:spcAft>
                <a:spcPts val="0"/>
              </a:spcAft>
              <a:buSzPts val="1000"/>
              <a:buChar char="-"/>
            </a:pPr>
            <a:r>
              <a:rPr lang="en"/>
              <a:t>Quiz now appears as pop-out card</a:t>
            </a:r>
            <a:endParaRPr/>
          </a:p>
          <a:p>
            <a:pPr indent="-292100" lvl="0" marL="457200" rtl="0" algn="l">
              <a:spcBef>
                <a:spcPts val="0"/>
              </a:spcBef>
              <a:spcAft>
                <a:spcPts val="0"/>
              </a:spcAft>
              <a:buSzPts val="1000"/>
              <a:buChar char="-"/>
            </a:pPr>
            <a:r>
              <a:rPr lang="en"/>
              <a:t>Added a structured answer component</a:t>
            </a:r>
            <a:endParaRPr/>
          </a:p>
          <a:p>
            <a:pPr indent="0" lvl="0" marL="0" rtl="0" algn="l">
              <a:spcBef>
                <a:spcPts val="1000"/>
              </a:spcBef>
              <a:spcAft>
                <a:spcPts val="1000"/>
              </a:spcAft>
              <a:buNone/>
            </a:pPr>
            <a:r>
              <a:t/>
            </a:r>
            <a:endParaRPr/>
          </a:p>
        </p:txBody>
      </p:sp>
      <p:sp>
        <p:nvSpPr>
          <p:cNvPr id="978" name="Google Shape;978;p6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63"/>
          <p:cNvSpPr txBox="1"/>
          <p:nvPr>
            <p:ph type="title"/>
          </p:nvPr>
        </p:nvSpPr>
        <p:spPr>
          <a:xfrm>
            <a:off x="96025" y="1206300"/>
            <a:ext cx="6507000" cy="6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 Plan</a:t>
            </a:r>
            <a:endParaRPr/>
          </a:p>
        </p:txBody>
      </p:sp>
      <p:sp>
        <p:nvSpPr>
          <p:cNvPr id="984" name="Google Shape;984;p6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85" name="Google Shape;985;p63"/>
          <p:cNvSpPr txBox="1"/>
          <p:nvPr>
            <p:ph idx="1" type="subTitle"/>
          </p:nvPr>
        </p:nvSpPr>
        <p:spPr>
          <a:xfrm>
            <a:off x="115025" y="2076975"/>
            <a:ext cx="6488100" cy="264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Given this is a very nondeterministic system, our testing plan has been primarily system testing, where the result can be verified by a human. Unit testing is difficult because the AI can output many different answers to the same input.</a:t>
            </a:r>
            <a:endParaRPr/>
          </a:p>
          <a:p>
            <a:pPr indent="0" lvl="0" marL="0" rtl="0" algn="l">
              <a:spcBef>
                <a:spcPts val="1000"/>
              </a:spcBef>
              <a:spcAft>
                <a:spcPts val="0"/>
              </a:spcAft>
              <a:buNone/>
            </a:pPr>
            <a:r>
              <a:rPr lang="en"/>
              <a:t>Here are some examples of prompts we have used to test the system:</a:t>
            </a:r>
            <a:endParaRPr/>
          </a:p>
          <a:p>
            <a:pPr indent="-292100" lvl="0" marL="457200" rtl="0" algn="l">
              <a:spcBef>
                <a:spcPts val="1000"/>
              </a:spcBef>
              <a:spcAft>
                <a:spcPts val="0"/>
              </a:spcAft>
              <a:buSzPts val="1000"/>
              <a:buChar char="●"/>
            </a:pPr>
            <a:r>
              <a:rPr lang="en"/>
              <a:t>Can you give me an explanation of y = mx + b?</a:t>
            </a:r>
            <a:endParaRPr/>
          </a:p>
          <a:p>
            <a:pPr indent="-292100" lvl="0" marL="457200" rtl="0" algn="l">
              <a:spcBef>
                <a:spcPts val="0"/>
              </a:spcBef>
              <a:spcAft>
                <a:spcPts val="0"/>
              </a:spcAft>
              <a:buSzPts val="1000"/>
              <a:buChar char="●"/>
            </a:pPr>
            <a:r>
              <a:rPr lang="en"/>
              <a:t>What can you tell me about the solar system?</a:t>
            </a:r>
            <a:endParaRPr/>
          </a:p>
          <a:p>
            <a:pPr indent="-292100" lvl="0" marL="457200" rtl="0" algn="l">
              <a:spcBef>
                <a:spcPts val="0"/>
              </a:spcBef>
              <a:spcAft>
                <a:spcPts val="0"/>
              </a:spcAft>
              <a:buSzPts val="1000"/>
              <a:buChar char="●"/>
            </a:pPr>
            <a:r>
              <a:rPr lang="en"/>
              <a:t>Can you tell me about the fall of the Roman Empire?</a:t>
            </a:r>
            <a:endParaRPr/>
          </a:p>
          <a:p>
            <a:pPr indent="-292100" lvl="0" marL="457200" rtl="0" algn="l">
              <a:spcBef>
                <a:spcPts val="0"/>
              </a:spcBef>
              <a:spcAft>
                <a:spcPts val="0"/>
              </a:spcAft>
              <a:buSzPts val="1000"/>
              <a:buChar char="●"/>
            </a:pPr>
            <a:r>
              <a:rPr lang="en"/>
              <a:t>Can you give me a quiz on algebra concepts with 2 questions?</a:t>
            </a:r>
            <a:endParaRPr/>
          </a:p>
          <a:p>
            <a:pPr indent="0" lvl="0" marL="0" rtl="0" algn="l">
              <a:spcBef>
                <a:spcPts val="1000"/>
              </a:spcBef>
              <a:spcAft>
                <a:spcPts val="1000"/>
              </a:spcAft>
              <a:buNone/>
            </a:pPr>
            <a:r>
              <a:rPr lang="en"/>
              <a:t>These prompts have allowed us to identify issues with the AI responses, the RAG system, and the </a:t>
            </a:r>
            <a:r>
              <a:rPr lang="en"/>
              <a:t>quiz generation. They touch on a variety of topics, some of which require more thinking than simply regurgitating text.</a:t>
            </a:r>
            <a:endParaRPr/>
          </a:p>
        </p:txBody>
      </p:sp>
      <p:sp>
        <p:nvSpPr>
          <p:cNvPr id="986" name="Google Shape;986;p6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64"/>
          <p:cNvSpPr txBox="1"/>
          <p:nvPr>
            <p:ph type="title"/>
          </p:nvPr>
        </p:nvSpPr>
        <p:spPr>
          <a:xfrm>
            <a:off x="77175" y="69555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Achievements and Challenges</a:t>
            </a:r>
            <a:endParaRPr/>
          </a:p>
        </p:txBody>
      </p:sp>
      <p:sp>
        <p:nvSpPr>
          <p:cNvPr id="992" name="Google Shape;992;p6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93" name="Google Shape;993;p64"/>
          <p:cNvSpPr txBox="1"/>
          <p:nvPr>
            <p:ph idx="1" type="subTitle"/>
          </p:nvPr>
        </p:nvSpPr>
        <p:spPr>
          <a:xfrm>
            <a:off x="115025" y="1951337"/>
            <a:ext cx="3759600" cy="230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Sprint 2 Achievements</a:t>
            </a:r>
            <a:endParaRPr sz="1100"/>
          </a:p>
          <a:p>
            <a:pPr indent="-298450" lvl="0" marL="457200" rtl="0" algn="l">
              <a:spcBef>
                <a:spcPts val="1000"/>
              </a:spcBef>
              <a:spcAft>
                <a:spcPts val="0"/>
              </a:spcAft>
              <a:buSzPts val="1100"/>
              <a:buChar char="●"/>
            </a:pPr>
            <a:r>
              <a:rPr lang="en" sz="1100"/>
              <a:t>Set up Local LLM system and </a:t>
            </a:r>
            <a:r>
              <a:rPr lang="en" sz="1100"/>
              <a:t>swapability</a:t>
            </a:r>
            <a:endParaRPr sz="1100"/>
          </a:p>
          <a:p>
            <a:pPr indent="-298450" lvl="0" marL="457200" rtl="0" algn="l">
              <a:spcBef>
                <a:spcPts val="0"/>
              </a:spcBef>
              <a:spcAft>
                <a:spcPts val="0"/>
              </a:spcAft>
              <a:buSzPts val="1100"/>
              <a:buChar char="●"/>
            </a:pPr>
            <a:r>
              <a:rPr lang="en" sz="1100"/>
              <a:t>Added RAG</a:t>
            </a:r>
            <a:endParaRPr sz="1100"/>
          </a:p>
          <a:p>
            <a:pPr indent="-298450" lvl="0" marL="457200" rtl="0" algn="l">
              <a:spcBef>
                <a:spcPts val="0"/>
              </a:spcBef>
              <a:spcAft>
                <a:spcPts val="0"/>
              </a:spcAft>
              <a:buSzPts val="1100"/>
              <a:buChar char="●"/>
            </a:pPr>
            <a:r>
              <a:rPr lang="en" sz="1100"/>
              <a:t>Polished features from previous sprint</a:t>
            </a:r>
            <a:endParaRPr sz="1100"/>
          </a:p>
          <a:p>
            <a:pPr indent="-298450" lvl="0" marL="457200" rtl="0" algn="l">
              <a:spcBef>
                <a:spcPts val="0"/>
              </a:spcBef>
              <a:spcAft>
                <a:spcPts val="0"/>
              </a:spcAft>
              <a:buSzPts val="1100"/>
              <a:buChar char="●"/>
            </a:pPr>
            <a:r>
              <a:rPr lang="en" sz="1100"/>
              <a:t>Updated UI elements for previous sprint’s features</a:t>
            </a:r>
            <a:endParaRPr sz="1100"/>
          </a:p>
          <a:p>
            <a:pPr indent="-298450" lvl="0" marL="457200" rtl="0" algn="l">
              <a:spcBef>
                <a:spcPts val="0"/>
              </a:spcBef>
              <a:spcAft>
                <a:spcPts val="0"/>
              </a:spcAft>
              <a:buSzPts val="1100"/>
              <a:buChar char="●"/>
            </a:pPr>
            <a:r>
              <a:rPr lang="en" sz="1100"/>
              <a:t>Set up multi-session chat logs</a:t>
            </a:r>
            <a:endParaRPr sz="1100"/>
          </a:p>
        </p:txBody>
      </p:sp>
      <p:sp>
        <p:nvSpPr>
          <p:cNvPr id="994" name="Google Shape;994;p6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5" name="Google Shape;995;p64"/>
          <p:cNvSpPr txBox="1"/>
          <p:nvPr>
            <p:ph idx="1" type="subTitle"/>
          </p:nvPr>
        </p:nvSpPr>
        <p:spPr>
          <a:xfrm>
            <a:off x="3497550" y="2003600"/>
            <a:ext cx="3468900" cy="230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Challenges &amp; Solutions</a:t>
            </a:r>
            <a:endParaRPr sz="1100"/>
          </a:p>
          <a:p>
            <a:pPr indent="-298450" lvl="0" marL="457200" rtl="0" algn="l">
              <a:spcBef>
                <a:spcPts val="1200"/>
              </a:spcBef>
              <a:spcAft>
                <a:spcPts val="0"/>
              </a:spcAft>
              <a:buSzPts val="1100"/>
              <a:buChar char="●"/>
            </a:pPr>
            <a:r>
              <a:rPr lang="en" sz="1100"/>
              <a:t>Role-based access &amp; authentication — database schema planed</a:t>
            </a:r>
            <a:endParaRPr sz="1100"/>
          </a:p>
          <a:p>
            <a:pPr indent="-298450" lvl="0" marL="457200" rtl="0" algn="l">
              <a:spcBef>
                <a:spcPts val="0"/>
              </a:spcBef>
              <a:spcAft>
                <a:spcPts val="0"/>
              </a:spcAft>
              <a:buSzPts val="1100"/>
              <a:buChar char="●"/>
            </a:pPr>
            <a:r>
              <a:rPr lang="en" sz="1100"/>
              <a:t>Mastery tracking system - Initially planned for this sprint but was changed </a:t>
            </a:r>
            <a:r>
              <a:rPr lang="en" sz="1100"/>
              <a:t>due to changes in our plans</a:t>
            </a:r>
            <a:endParaRPr sz="1100"/>
          </a:p>
          <a:p>
            <a:pPr indent="-298450" lvl="0" marL="457200" rtl="0" algn="l">
              <a:spcBef>
                <a:spcPts val="0"/>
              </a:spcBef>
              <a:spcAft>
                <a:spcPts val="0"/>
              </a:spcAft>
              <a:buSzPts val="1100"/>
              <a:buChar char="●"/>
            </a:pPr>
            <a:r>
              <a:rPr lang="en" sz="1100"/>
              <a:t>Accessibility features — continuing next sprint</a:t>
            </a:r>
            <a:endParaRPr sz="1100"/>
          </a:p>
          <a:p>
            <a:pPr indent="-298450" lvl="0" marL="457200" rtl="0" algn="l">
              <a:spcBef>
                <a:spcPts val="0"/>
              </a:spcBef>
              <a:spcAft>
                <a:spcPts val="0"/>
              </a:spcAft>
              <a:buSzPts val="1100"/>
              <a:buChar char="●"/>
            </a:pPr>
            <a:r>
              <a:rPr lang="en" sz="1100"/>
              <a:t>Backend logging &amp; audit system — not yet integrated</a:t>
            </a:r>
            <a:endParaRPr sz="1100"/>
          </a:p>
          <a:p>
            <a:pPr indent="0" lvl="0" marL="457200" rtl="0" algn="l">
              <a:spcBef>
                <a:spcPts val="1200"/>
              </a:spcBef>
              <a:spcAft>
                <a:spcPts val="1000"/>
              </a:spcAft>
              <a:buNone/>
            </a:pPr>
            <a:r>
              <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65"/>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 and Sprint Retrospective </a:t>
            </a:r>
            <a:endParaRPr/>
          </a:p>
        </p:txBody>
      </p:sp>
      <p:sp>
        <p:nvSpPr>
          <p:cNvPr id="1001" name="Google Shape;1001;p6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1002" name="Google Shape;1002;p65"/>
          <p:cNvSpPr txBox="1"/>
          <p:nvPr>
            <p:ph idx="1" type="subTitle"/>
          </p:nvPr>
        </p:nvSpPr>
        <p:spPr>
          <a:xfrm>
            <a:off x="115025" y="2582941"/>
            <a:ext cx="5050800" cy="222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Add teacher and admin dashboards</a:t>
            </a:r>
            <a:endParaRPr sz="1200"/>
          </a:p>
          <a:p>
            <a:pPr indent="-304800" lvl="0" marL="457200" rtl="0" algn="l">
              <a:spcBef>
                <a:spcPts val="0"/>
              </a:spcBef>
              <a:spcAft>
                <a:spcPts val="0"/>
              </a:spcAft>
              <a:buSzPts val="1200"/>
              <a:buChar char="●"/>
            </a:pPr>
            <a:r>
              <a:rPr lang="en" sz="1200"/>
              <a:t>Implement student progress tracking, and intervention alerts </a:t>
            </a:r>
            <a:endParaRPr sz="1200"/>
          </a:p>
          <a:p>
            <a:pPr indent="-304800" lvl="0" marL="457200" rtl="0" algn="l">
              <a:spcBef>
                <a:spcPts val="0"/>
              </a:spcBef>
              <a:spcAft>
                <a:spcPts val="0"/>
              </a:spcAft>
              <a:buSzPts val="1200"/>
              <a:buChar char="●"/>
            </a:pPr>
            <a:r>
              <a:rPr lang="en" sz="1200"/>
              <a:t>Develop role-based authentication and access control</a:t>
            </a:r>
            <a:endParaRPr sz="1200"/>
          </a:p>
          <a:p>
            <a:pPr indent="-304800" lvl="0" marL="457200" rtl="0" algn="l">
              <a:spcBef>
                <a:spcPts val="0"/>
              </a:spcBef>
              <a:spcAft>
                <a:spcPts val="0"/>
              </a:spcAft>
              <a:buSzPts val="1200"/>
              <a:buChar char="●"/>
            </a:pPr>
            <a:r>
              <a:rPr lang="en" sz="1200"/>
              <a:t>Implement the landing page, and login/sign-up page </a:t>
            </a:r>
            <a:endParaRPr sz="1200"/>
          </a:p>
          <a:p>
            <a:pPr indent="-304800" lvl="0" marL="457200" rtl="0" algn="l">
              <a:spcBef>
                <a:spcPts val="0"/>
              </a:spcBef>
              <a:spcAft>
                <a:spcPts val="0"/>
              </a:spcAft>
              <a:buSzPts val="1200"/>
              <a:buChar char="●"/>
            </a:pPr>
            <a:r>
              <a:rPr lang="en" sz="1200"/>
              <a:t>Design a figma wireframe for mastery tracking dashboard.</a:t>
            </a:r>
            <a:endParaRPr sz="1200"/>
          </a:p>
        </p:txBody>
      </p:sp>
      <p:sp>
        <p:nvSpPr>
          <p:cNvPr id="1003" name="Google Shape;1003;p6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66"/>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1009" name="Google Shape;1009;p6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1010" name="Google Shape;1010;p66"/>
          <p:cNvSpPr txBox="1"/>
          <p:nvPr>
            <p:ph idx="1" type="subTitle"/>
          </p:nvPr>
        </p:nvSpPr>
        <p:spPr>
          <a:xfrm>
            <a:off x="228600" y="1365725"/>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rPr lang="en" sz="1500"/>
              <a:t>Thank you!</a:t>
            </a:r>
            <a:endParaRPr sz="1500"/>
          </a:p>
        </p:txBody>
      </p:sp>
      <p:sp>
        <p:nvSpPr>
          <p:cNvPr id="1011" name="Google Shape;1011;p6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67"/>
          <p:cNvSpPr txBox="1"/>
          <p:nvPr>
            <p:ph type="title"/>
          </p:nvPr>
        </p:nvSpPr>
        <p:spPr>
          <a:xfrm>
            <a:off x="96025" y="1206300"/>
            <a:ext cx="71049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Youtube Video Link</a:t>
            </a:r>
            <a:endParaRPr sz="3400"/>
          </a:p>
          <a:p>
            <a:pPr indent="0" lvl="0" marL="0" rtl="0" algn="l">
              <a:spcBef>
                <a:spcPts val="0"/>
              </a:spcBef>
              <a:spcAft>
                <a:spcPts val="0"/>
              </a:spcAft>
              <a:buNone/>
            </a:pPr>
            <a:r>
              <a:t/>
            </a:r>
            <a:endParaRPr sz="2200"/>
          </a:p>
          <a:p>
            <a:pPr indent="0" lvl="0" marL="0" rtl="0" algn="l">
              <a:spcBef>
                <a:spcPts val="0"/>
              </a:spcBef>
              <a:spcAft>
                <a:spcPts val="0"/>
              </a:spcAft>
              <a:buNone/>
            </a:pPr>
            <a:r>
              <a:rPr lang="en" sz="2200" u="sng">
                <a:solidFill>
                  <a:schemeClr val="hlink"/>
                </a:solidFill>
                <a:hlinkClick r:id="rId3"/>
              </a:rPr>
              <a:t>https://youtu.be/Ytxe1ya9yGM?si=ashID6NZFtBwk3x9</a:t>
            </a:r>
            <a:r>
              <a:rPr lang="en" sz="2200"/>
              <a:t> </a:t>
            </a:r>
            <a:endParaRPr sz="2200"/>
          </a:p>
        </p:txBody>
      </p:sp>
      <p:sp>
        <p:nvSpPr>
          <p:cNvPr id="1017" name="Google Shape;1017;p67"/>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1018" name="Google Shape;1018;p6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t/>
            </a:r>
            <a:endParaRPr/>
          </a:p>
        </p:txBody>
      </p:sp>
      <p:sp>
        <p:nvSpPr>
          <p:cNvPr id="1019" name="Google Shape;1019;p6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